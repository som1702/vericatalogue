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c5e40c7d4e4f0c" /><Relationship Type="http://schemas.openxmlformats.org/officeDocument/2006/relationships/extended-properties" Target="/docProps/app.xml" Id="R19105d4f2917478f" /><Relationship Type="http://schemas.openxmlformats.org/officeDocument/2006/relationships/officeDocument" Target="/ppt/presentation.xml" Id="R093b58da1aaa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a9034e52d4e62"/>
  </p:sldMasterIdLst>
  <p:notesMasterIdLst>
    <p:notesMasterId xmlns:r="http://schemas.openxmlformats.org/officeDocument/2006/relationships" r:id="Rcfad0708859648a3"/>
  </p:notesMasterIdLst>
  <p:sldIdLst>
    <p:sldId xmlns:r="http://schemas.openxmlformats.org/officeDocument/2006/relationships" id="256" r:id="R9e56a02f961f481f"/>
    <p:sldId xmlns:r="http://schemas.openxmlformats.org/officeDocument/2006/relationships" id="257" r:id="Rfb1a22ea4fb448e1"/>
    <p:sldId xmlns:r="http://schemas.openxmlformats.org/officeDocument/2006/relationships" id="258" r:id="Ra7616d5eab834e7a"/>
    <p:sldId xmlns:r="http://schemas.openxmlformats.org/officeDocument/2006/relationships" id="259" r:id="R759ede484a514e4f"/>
    <p:sldId xmlns:r="http://schemas.openxmlformats.org/officeDocument/2006/relationships" id="260" r:id="Rf2dd3651b5d945dd"/>
    <p:sldId xmlns:r="http://schemas.openxmlformats.org/officeDocument/2006/relationships" id="261" r:id="R3b40ff37cf6149a3"/>
    <p:sldId xmlns:r="http://schemas.openxmlformats.org/officeDocument/2006/relationships" id="262" r:id="Rad7622f4cf9948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895945cfbd48cd" /><Relationship Type="http://schemas.openxmlformats.org/officeDocument/2006/relationships/slideMaster" Target="/ppt/slideMasters/slideMaster1.xml" Id="R97ca9034e52d4e62" /><Relationship Type="http://schemas.openxmlformats.org/officeDocument/2006/relationships/notesMaster" Target="/ppt/notesMasters/notesMaster1.xml" Id="Rcfad0708859648a3" /><Relationship Type="http://schemas.openxmlformats.org/officeDocument/2006/relationships/presProps" Target="/ppt/presProps.xml" Id="R3f5be6fc2a6f487b" /><Relationship Type="http://schemas.openxmlformats.org/officeDocument/2006/relationships/tableStyles" Target="/ppt/tableStyles.xml" Id="R97ce3786895c42ad" /><Relationship Type="http://schemas.openxmlformats.org/officeDocument/2006/relationships/slide" Target="/ppt/slides/slide1.xml" Id="R9e56a02f961f481f" /><Relationship Type="http://schemas.openxmlformats.org/officeDocument/2006/relationships/slide" Target="/ppt/slides/slide2.xml" Id="Rfb1a22ea4fb448e1" /><Relationship Type="http://schemas.openxmlformats.org/officeDocument/2006/relationships/slide" Target="/ppt/slides/slide3.xml" Id="Ra7616d5eab834e7a" /><Relationship Type="http://schemas.openxmlformats.org/officeDocument/2006/relationships/slide" Target="/ppt/slides/slide4.xml" Id="R759ede484a514e4f" /><Relationship Type="http://schemas.openxmlformats.org/officeDocument/2006/relationships/slide" Target="/ppt/slides/slide5.xml" Id="Rf2dd3651b5d945dd" /><Relationship Type="http://schemas.openxmlformats.org/officeDocument/2006/relationships/slide" Target="/ppt/slides/slide6.xml" Id="R3b40ff37cf6149a3" /><Relationship Type="http://schemas.openxmlformats.org/officeDocument/2006/relationships/slide" Target="/ppt/slides/slide7.xml" Id="Rad7622f4cf99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fcae6edcf34c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5d6235352e4314" /><Relationship Type="http://schemas.openxmlformats.org/officeDocument/2006/relationships/notesMaster" Target="/ppt/notesMasters/notesMaster1.xml" Id="R7493857b4b6e4f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7eb02cbe104778" /><Relationship Type="http://schemas.openxmlformats.org/officeDocument/2006/relationships/notesMaster" Target="/ppt/notesMasters/notesMaster1.xml" Id="R2b58539c972842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6eb98560c48c2" /><Relationship Type="http://schemas.openxmlformats.org/officeDocument/2006/relationships/notesMaster" Target="/ppt/notesMasters/notesMaster1.xml" Id="Re4b246161e444e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440d9bc9994582" /><Relationship Type="http://schemas.openxmlformats.org/officeDocument/2006/relationships/notesMaster" Target="/ppt/notesMasters/notesMaster1.xml" Id="Rc5083e681d8b43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aa478b2d794f11" /><Relationship Type="http://schemas.openxmlformats.org/officeDocument/2006/relationships/notesMaster" Target="/ppt/notesMasters/notesMaster1.xml" Id="R82e6d3d554a74a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3ded08c3b54c5f" /><Relationship Type="http://schemas.openxmlformats.org/officeDocument/2006/relationships/notesMaster" Target="/ppt/notesMasters/notesMaster1.xml" Id="R269f2305d60f4c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cef9ab0e1a4f4d" /><Relationship Type="http://schemas.openxmlformats.org/officeDocument/2006/relationships/notesMaster" Target="/ppt/notesMasters/notesMaster1.xml" Id="Rddb572c3d46d45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problem: industrial specs cannot be exported safely when their origin is unclear.</a:t>
            </a:r>
          </a:p>
          <a:p xmlns:a="http://schemas.openxmlformats.org/drawingml/2006/main">
            <a:r>
              <a:t>[Sources] Local project screenshot and README, verified 2026-08-20.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states workflow risks qualitatively and does not claim a measured business impact.</a:t>
            </a:r>
          </a:p>
          <a:p xmlns:a="http://schemas.openxmlformats.org/drawingml/2006/main">
            <a:r>
              <a:t>[Sources] Product requirements, README, and synthetic conflict fixture in backend/demo_data, verified 2026-08-20.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proposition is not an AI answer. It is an auditable decision workflow.</a:t>
            </a:r>
          </a:p>
          <a:p xmlns:a="http://schemas.openxmlformats.org/drawingml/2006/main">
            <a:r>
              <a:t>[Sources] README; docs/01-product-requirements.md; docs/05-data-schema-and-validation.md; local implementation, verified 2026-08-20.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Size: the app shows both 25.4 mm and 1 in, so normalization never erases the original evidence.</a:t>
            </a:r>
          </a:p>
          <a:p xmlns:a="http://schemas.openxmlformats.org/drawingml/2006/main">
            <a:r>
              <a:t>[Sources] Synthetic ball-valve PDF and local app record, verified 2026-08-20. All displayed source values are fabricated demo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an AI key is added, it stays on the backend. AI-only candidates remain Inferred until reviewed.</a:t>
            </a:r>
          </a:p>
          <a:p xmlns:a="http://schemas.openxmlformats.org/drawingml/2006/main">
            <a:r>
              <a:t>The Evidence Review Agent is a fixed sequence of inspect-only local tools. It can rank the queue but cannot mutate a record.</a:t>
            </a:r>
          </a:p>
          <a:p xmlns:a="http://schemas.openxmlformats.org/drawingml/2006/main">
            <a:r>
              <a:t>[Sources] docs/06-system-architecture.md and backend implementation, verified 2026-08-20.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Completeness counts only required field instances marked Verified. It is not an accuracy estimate.</a:t>
            </a:r>
          </a:p>
          <a:p xmlns:a="http://schemas.openxmlformats.org/drawingml/2006/main">
            <a:r>
              <a:t>[Sources] Local run of backend/demo_data/synthetic_valve_batch.csv and Catalog Health UI, verified 2026-08-20. All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decision: this project is ready to demonstrate, configure with an optional key, and submit with a repository link.</a:t>
            </a:r>
          </a:p>
          <a:p xmlns:a="http://schemas.openxmlformats.org/drawingml/2006/main">
            <a:r>
              <a:t>[Sources] README, docs/SUBMISSION_DESCRIPTION.md, and local implementation, verified 2026-08-20.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0ae1ab2fa4d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b2ad5980014c35" /><Relationship Type="http://schemas.openxmlformats.org/officeDocument/2006/relationships/slideLayout" Target="/ppt/slideLayouts/slideLayout1.xml" Id="Rdea5180949844a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a5180949844a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4ce2a2a7d4ca2" /><Relationship Type="http://schemas.openxmlformats.org/officeDocument/2006/relationships/image" Target="/ppt/media/image.jpeg" Id="R5f87a397d2b148b5" /><Relationship Type="http://schemas.openxmlformats.org/officeDocument/2006/relationships/notesSlide" Target="/ppt/notesSlides/notesSlide1.xml" Id="Rf5486a4915d44c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319d1bfc447d4" /><Relationship Type="http://schemas.openxmlformats.org/officeDocument/2006/relationships/notesSlide" Target="/ppt/notesSlides/notesSlide2.xml" Id="R80fe5353720748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9a64538fa48c8" /><Relationship Type="http://schemas.openxmlformats.org/officeDocument/2006/relationships/notesSlide" Target="/ppt/notesSlides/notesSlide3.xml" Id="Rffc98df3c3de48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0cf876b4643f9" /><Relationship Type="http://schemas.openxmlformats.org/officeDocument/2006/relationships/notesSlide" Target="/ppt/notesSlides/notesSlide4.xml" Id="Rae675033fefe4a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7ab01593e461b" /><Relationship Type="http://schemas.openxmlformats.org/officeDocument/2006/relationships/notesSlide" Target="/ppt/notesSlides/notesSlide5.xml" Id="R0c344f7490ea4c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b2a29914d48ab" /><Relationship Type="http://schemas.openxmlformats.org/officeDocument/2006/relationships/notesSlide" Target="/ppt/notesSlides/notesSlide6.xml" Id="Re0b149accd744b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35613171541cf" /><Relationship Type="http://schemas.openxmlformats.org/officeDocument/2006/relationships/notesSlide" Target="/ppt/notesSlides/notesSlide7.xml" Id="R6a249d3c12f64f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FBC3952-48B6-4EBE-872E-0BE14E38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1840377-F6FF-4EB2-8B3D-36469692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776BD3D-73B6-4B6B-B1CE-0E74644A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9E82E76-72C9-4D7D-AF3D-4EAD0077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7a397d2b148b5"/>
          <a:srcRect xmlns:a="http://schemas.openxmlformats.org/drawingml/2006/main" l="22162" t="0" r="221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D0F45-30C4-47C7-A176-07F1326A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796E"/>
                </a:solidFill>
              </a:defRPr>
            </a:pPr>
            <a:r>
              <a:rPr sz="1425" b="1">
                <a:solidFill>
                  <a:srgbClr val="2A796E"/>
                </a:solidFill>
              </a:rPr>
              <a:t>VERICATALOG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E6D7D-5CFD-4801-8D4E-B83BC4F4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62D"/>
                </a:solidFill>
              </a:defRPr>
            </a:pPr>
            <a:r>
              <a:rPr sz="4050" b="1">
                <a:solidFill>
                  <a:srgbClr val="10262D"/>
                </a:solidFill>
              </a:rPr>
              <a:t>Every catalog field</a:t>
            </a:r>
          </a:p>
          <a:p xmlns:a="http://schemas.openxmlformats.org/drawingml/2006/main">
            <a:pPr>
              <a:defRPr sz="4050" b="1">
                <a:solidFill>
                  <a:srgbClr val="10262D"/>
                </a:solidFill>
              </a:defRPr>
            </a:pPr>
            <a:r>
              <a:rPr sz="4050" b="1">
                <a:solidFill>
                  <a:srgbClr val="10262D"/>
                </a:solidFill>
              </a:rPr>
              <a:t>needs proof.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0F6CD-D61C-47F3-B119-2A51A63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5143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6B"/>
                </a:solidFill>
              </a:defRPr>
            </a:pPr>
            <a:r>
              <a:rPr sz="1725" b="0">
                <a:solidFill>
                  <a:srgbClr val="53666B"/>
                </a:solidFill>
              </a:rPr>
              <a:t>Evidence-first product intelligence for industrial commerce.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66B"/>
                </a:solidFill>
              </a:defRPr>
            </a:pPr>
            <a:r>
              <a:rPr sz="1725" b="0">
                <a:solidFill>
                  <a:srgbClr val="53666B"/>
                </a:solidFill>
              </a:rPr>
              <a:t>A functional local prototype for industrial valves &amp; fittings.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C17BC-FB2B-42CF-A3BF-767995C8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796E"/>
                </a:solidFill>
              </a:defRPr>
            </a:pPr>
            <a:r>
              <a:rPr sz="1350" b="1">
                <a:solidFill>
                  <a:srgbClr val="2A796E"/>
                </a:solidFill>
              </a:rPr>
              <a:t>UniHack 2026 • Synthetic demonstration data</a:t>
            </a:r>
          </a:p>
        </p:txBody>
      </p:sp>
    </p:spTree>
    <p:extLst>
      <p:ext uri="{BB962C8B-B14F-4D97-AF65-F5344CB8AC3E}">
        <p14:creationId xmlns:p14="http://schemas.microsoft.com/office/powerpoint/2010/main" val="6878392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F1B5FAF-AE5B-46E8-AD43-47B2E8AE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AECB400-C353-40A2-912A-E7B427FF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EBACF45-263A-4614-AD00-82A9CB83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graphicFrame>
        <p:nvGraphicFramePr>
          <p:cNvPr id="12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CAC8B-5006-42F6-962F-98A453B4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1152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7D297-8418-4EAD-B094-B58C4AB3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62D"/>
                </a:solidFill>
              </a:defRPr>
            </a:pPr>
            <a:r>
              <a:rPr sz="3150" b="1">
                <a:solidFill>
                  <a:srgbClr val="10262D"/>
                </a:solidFill>
              </a:rPr>
              <a:t>Industrial catalog data breaks down when proof is separated from the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85466-10F7-4B3F-901E-A2A06940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6B"/>
                </a:solidFill>
              </a:defRPr>
            </a:pPr>
            <a:r>
              <a:rPr sz="1575" b="0">
                <a:solidFill>
                  <a:srgbClr val="53666B"/>
                </a:solidFill>
              </a:rPr>
              <a:t>A source file can contain the right information while still being unsafe to export unless each field is traceable, normalized, and reviewable.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90525" y="2324100"/>
          <a:ext xmlns:a="http://schemas.openxmlformats.org/drawingml/2006/main" cx="11401425" cy="3543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2476500"/>
                <a:gridCol w="2381250"/>
                <a:gridCol w="2381250"/>
                <a:gridCol w="1876425"/>
              </a:tblGrid>
              <a:tr h="70866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Source reality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Why it is risky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What a steward needs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VeriCatalog response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Unstructured document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Valve PDF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Field origin is hard to inspect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The original snippet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Retained evidence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Inconsistent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SS304 / 25.4 mm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Values need consistent PIM format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Raw + canonical 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Deterministic normalization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Conflicting sources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600 WOG / 400 WOG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A silent choice could be wrong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Both competing sources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Conflict → review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Partial records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Missing pressure rating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No basis for a reliable 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An explicit gap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Missing → review queue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8062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BAF8193-BE18-4216-A03E-A7D4977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56A4FED2-194C-49A2-B2FC-9C6C6BFA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FEAEDFE-7B2D-4D2D-8964-E1AC762A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BEA6B80-AA9A-4030-A142-4169B24D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BDB1A8A9-5FB1-4BF5-A59C-E3CCD12A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67F72BF-E485-414F-8F95-A7D77E4B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5B5A8CB-7B0C-43A1-B06C-A1C11132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F2687C0-C276-4531-B691-619C030A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06F5E601-ACA9-453A-B8F1-CC442E04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73A7E6B-A2A4-41E7-AD01-F641BEE8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B60A421-679C-41CA-A9DE-736F6483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D2CCCFC-517E-4AD5-AC6A-E0680FF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A7716-B997-4550-A351-974D8E8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62D"/>
                </a:solidFill>
              </a:defRPr>
            </a:pPr>
            <a:r>
              <a:rPr sz="3150" b="1">
                <a:solidFill>
                  <a:srgbClr val="10262D"/>
                </a:solidFill>
              </a:rPr>
              <a:t>VeriCatalog Proof is a trust layer before the PIM.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EE2B9-1F29-4ED5-B26B-136BF758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6B"/>
                </a:solidFill>
              </a:defRPr>
            </a:pPr>
            <a:r>
              <a:rPr sz="1575" b="0">
                <a:solidFill>
                  <a:srgbClr val="53666B"/>
                </a:solidFill>
              </a:rPr>
              <a:t>It turns source documents into structured records while preserving the proof needed to decide what can move forward.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74228-2077-4956-951B-FC4FA00C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A796E"/>
                </a:solidFill>
              </a:defRPr>
            </a:pPr>
            <a:r>
              <a:rPr sz="3450" b="1">
                <a:solidFill>
                  <a:srgbClr val="2A796E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8EB41-BFE2-4FD0-B26E-99CB2751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6B"/>
                </a:solidFill>
              </a:defRPr>
            </a:pPr>
            <a:r>
              <a:rPr sz="1350" b="0">
                <a:solidFill>
                  <a:srgbClr val="53666B"/>
                </a:solidFill>
              </a:rPr>
              <a:t>Source file, location, snippet, raw value, and extraction method stay attached to the field.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ABC3F-A081-4E34-A25D-5AD7BCE2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38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62D"/>
                </a:solidFill>
              </a:defRPr>
            </a:pPr>
            <a:r>
              <a:rPr sz="3450" b="1">
                <a:solidFill>
                  <a:srgbClr val="10262D"/>
                </a:solidFill>
              </a:rPr>
              <a:t>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3AE2E-63C9-48CA-BE5D-B46F35A2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6B"/>
                </a:solidFill>
              </a:defRPr>
            </a:pPr>
            <a:r>
              <a:rPr sz="1350" b="0">
                <a:solidFill>
                  <a:srgbClr val="53666B"/>
                </a:solidFill>
              </a:rPr>
              <a:t>Units and aliases are normalized deterministically; missing, duplicate, and conflicting values are flagged.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97710-FFB4-4CEF-A34B-6169ED9A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38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62D"/>
                </a:solidFill>
              </a:defRPr>
            </a:pPr>
            <a:r>
              <a:rPr sz="3450" b="1">
                <a:solidFill>
                  <a:srgbClr val="10262D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B466E-81A5-49C6-91C8-C8CD44AF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9053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6B"/>
                </a:solidFill>
              </a:defRPr>
            </a:pPr>
            <a:r>
              <a:rPr sz="1350" b="0">
                <a:solidFill>
                  <a:srgbClr val="53666B"/>
                </a:solidFill>
              </a:rPr>
              <a:t>A bounded local agent ranks exceptions; a steward remains the only one who can approve, reject, or edit a field.</a:t>
            </a:r>
          </a:p>
        </p:txBody>
      </p:sp>
    </p:spTree>
    <p:extLst>
      <p:ext uri="{BB962C8B-B14F-4D97-AF65-F5344CB8AC3E}">
        <p14:creationId xmlns:p14="http://schemas.microsoft.com/office/powerpoint/2010/main" val="2273309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33329A9-9FEA-48DF-8088-A39E93A8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BA9A092-FF4E-43A8-ADBC-90C952BA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9A074C76-03D0-49FD-9467-BBB61016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graphicFrame>
        <p:nvGraphicFramePr>
          <p:cNvPr id="12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46D3F-FE62-40DE-91DC-0F579D1E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1152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319C4-B922-4553-A555-2FBA500A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62D"/>
                </a:solidFill>
              </a:defRPr>
            </a:pPr>
            <a:r>
              <a:rPr sz="3150" b="1">
                <a:solidFill>
                  <a:srgbClr val="10262D"/>
                </a:solidFill>
              </a:rPr>
              <a:t>A record explains itself field by field.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BA792-9544-4BA5-862C-09105617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6B"/>
                </a:solidFill>
              </a:defRPr>
            </a:pPr>
            <a:r>
              <a:rPr sz="1575" b="0">
                <a:solidFill>
                  <a:srgbClr val="53666B"/>
                </a:solidFill>
              </a:rPr>
              <a:t>Synthetic ball-valve example processed locally: the source text is preserved beside the canonical PIM-ready value and validation result.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90525" y="2324100"/>
          <a:ext xmlns:a="http://schemas.openxmlformats.org/drawingml/2006/main" cx="11401425" cy="3543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2476500"/>
                <a:gridCol w="2381250"/>
                <a:gridCol w="2381250"/>
                <a:gridCol w="1876425"/>
              </a:tblGrid>
              <a:tr h="70866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Attribute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Raw source text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Canonical value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Validation explanation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Truth status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Material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SS304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Stainless Steel 304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Alias standardized; raw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Size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25.4 mm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1 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Metric size normalized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Pressure rating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600 WOG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600 WOG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Direct source evidence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Temperature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-20 C to 180 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-20 to 180 °C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Readable canonical notation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742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C14BC34-0518-43BD-AD5D-47ADC08D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5CEF3F7-763C-421A-B711-B6C505FB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7FF1BF2-0070-497A-8F5E-0412BA56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graphicFrame>
        <p:nvGraphicFramePr>
          <p:cNvPr id="12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B9FC0-C551-4919-B79B-7F1982E4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1152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8E5E0-86E7-4F5D-AEAA-D13BEE08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62D"/>
                </a:solidFill>
              </a:defRPr>
            </a:pPr>
            <a:r>
              <a:rPr sz="3150" b="1">
                <a:solidFill>
                  <a:srgbClr val="10262D"/>
                </a:solidFill>
              </a:rPr>
              <a:t>A short, evidence-first path from supplier file to PIM export.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322CD-AF4C-4E68-AC5C-302429F7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6B"/>
                </a:solidFill>
              </a:defRPr>
            </a:pPr>
            <a:r>
              <a:rPr sz="1575" b="0">
                <a:solidFill>
                  <a:srgbClr val="53666B"/>
                </a:solidFill>
              </a:rPr>
              <a:t>The optional AI mapper needs source quotes. The bounded Review Agent only ranks human work; it never changes a value.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390525" y="2324100"/>
          <a:ext xmlns:a="http://schemas.openxmlformats.org/drawingml/2006/main" cx="11401425" cy="3543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2476500"/>
                <a:gridCol w="2381250"/>
                <a:gridCol w="2381250"/>
                <a:gridCol w="1876425"/>
              </a:tblGrid>
              <a:tr h="5905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System action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evidence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10262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1. Ingest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PDF, CSV, XLSX, manual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Read supported source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File + page/row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Candidate values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2. Extract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Labels and values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Fixed-schema extraction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Raw value + snippet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Structured field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3. Verify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Structured 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Normalize and validate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Rules + retained provenance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Verified / Inferred / Missing / Conflict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4. Triage +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Exceptions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Agent ranks; steward decides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4 local checks + human approval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Reviewed record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5. Export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Reviewed record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Produce JSON / 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Source trace remains stored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62D"/>
                          </a:solidFill>
                        </a:rPr>
                        <a:t>Downstream handoff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9016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A85954B-E5C8-4D73-B5A9-7CC8CFBC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53F9E41-19FC-4557-809B-B1ED1E21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17AEEB8-EC93-4A4F-A424-A8D404D6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E71F417-ADC5-42E0-8DDF-5E706B22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F6A2CEC-6E7C-468D-81ED-841B38F6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6B861A0-F594-43CF-9533-3AB62E09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EEEBC13-1B3E-40DC-ADEF-5BAB5E98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0B604CC-1CD6-489A-819B-2ECCF7C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FA211EF-484C-4651-9CD3-B4C10866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F1AC42C-2D0E-4144-AD30-C5DC8047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0187A2F-23EE-4816-BB4E-9284E94B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D574805-89E7-4245-9E80-D35CF2D4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89605-B52B-4E94-A81D-E0D18E20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62D"/>
                </a:solidFill>
              </a:defRPr>
            </a:pPr>
            <a:r>
              <a:rPr sz="3150" b="1">
                <a:solidFill>
                  <a:srgbClr val="10262D"/>
                </a:solidFill>
              </a:rPr>
              <a:t>Batch health makes the next review decision visible.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E7237-1721-40CC-9BE0-E903B35E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6B"/>
                </a:solidFill>
              </a:defRPr>
            </a:pPr>
            <a:r>
              <a:rPr sz="1575" b="0">
                <a:solidFill>
                  <a:srgbClr val="53666B"/>
                </a:solidFill>
              </a:rPr>
              <a:t>The shipped synthetic batch confirms the app can calculate a review queue. These are properties of this demo batch—not real-world performance claims.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A9033-41CC-409D-9559-6F57C4EC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A796E"/>
                </a:solidFill>
              </a:defRPr>
            </a:pPr>
            <a:r>
              <a:rPr sz="3450" b="1">
                <a:solidFill>
                  <a:srgbClr val="2A796E"/>
                </a:solidFill>
              </a:rPr>
              <a:t>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45190-B16E-45BD-9385-95D22A6C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6B"/>
                </a:solidFill>
              </a:defRPr>
            </a:pPr>
            <a:r>
              <a:rPr sz="1350" b="0">
                <a:solidFill>
                  <a:srgbClr val="53666B"/>
                </a:solidFill>
              </a:rPr>
              <a:t>synthetic rows processed 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1A508-939C-4711-971D-5DF1B45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38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62D"/>
                </a:solidFill>
              </a:defRPr>
            </a:pPr>
            <a:r>
              <a:rPr sz="3450" b="1">
                <a:solidFill>
                  <a:srgbClr val="10262D"/>
                </a:solidFill>
              </a:rPr>
              <a:t>93.3%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A247C-A7EA-45F2-ABE7-11A47041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6B"/>
                </a:solidFill>
              </a:defRPr>
            </a:pPr>
            <a:r>
              <a:rPr sz="1350" b="0">
                <a:solidFill>
                  <a:srgbClr val="53666B"/>
                </a:solidFill>
              </a:rPr>
              <a:t>required field instances marked 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1B915-603C-477C-844F-7ABA27DC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385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62D"/>
                </a:solidFill>
              </a:defRPr>
            </a:pPr>
            <a:r>
              <a:rPr sz="3450" b="1">
                <a:solidFill>
                  <a:srgbClr val="10262D"/>
                </a:solidFill>
              </a:rPr>
              <a:t>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34745-169A-4769-BF74-449DEE7F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9053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6B"/>
                </a:solidFill>
              </a:defRPr>
            </a:pPr>
            <a:r>
              <a:rPr sz="1350" b="0">
                <a:solidFill>
                  <a:srgbClr val="53666B"/>
                </a:solidFill>
              </a:rPr>
              <a:t>fields needing review: inferred, missing, or conflict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DBC9B-CD77-49BB-A1B7-32719DF0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3666B"/>
                </a:solidFill>
              </a:defRPr>
            </a:pPr>
            <a:r>
              <a:rPr sz="1200" b="1">
                <a:solidFill>
                  <a:srgbClr val="53666B"/>
                </a:solidFill>
              </a:rPr>
              <a:t>Also observed: 1 conflict • 15 missing mandatory fields • 1 duplicate candidate</a:t>
            </a:r>
          </a:p>
        </p:txBody>
      </p:sp>
    </p:spTree>
    <p:extLst>
      <p:ext uri="{BB962C8B-B14F-4D97-AF65-F5344CB8AC3E}">
        <p14:creationId xmlns:p14="http://schemas.microsoft.com/office/powerpoint/2010/main" val="17463186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5C45C21F-AE41-4563-9DFA-F6D939BE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210BA4E-B332-419D-980F-AB6D707F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247254D-BC28-4704-B894-465B1320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92D82-25CB-4818-993D-2E54B325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796E"/>
                </a:solidFill>
              </a:defRPr>
            </a:pPr>
            <a:r>
              <a:rPr sz="1425" b="1">
                <a:solidFill>
                  <a:srgbClr val="2A796E"/>
                </a:solidFill>
              </a:rPr>
              <a:t>VERICATALOG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3614E-5D68-45C8-A458-B876C44F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62D"/>
                </a:solidFill>
              </a:defRPr>
            </a:pPr>
            <a:r>
              <a:rPr sz="4200" b="1">
                <a:solidFill>
                  <a:srgbClr val="10262D"/>
                </a:solidFill>
              </a:rPr>
              <a:t>Ready for a human-reviewed</a:t>
            </a:r>
          </a:p>
          <a:p xmlns:a="http://schemas.openxmlformats.org/drawingml/2006/main">
            <a:pPr>
              <a:defRPr sz="4200" b="1">
                <a:solidFill>
                  <a:srgbClr val="10262D"/>
                </a:solidFill>
              </a:defRPr>
            </a:pPr>
            <a:r>
              <a:rPr sz="4200" b="1">
                <a:solidFill>
                  <a:srgbClr val="10262D"/>
                </a:solidFill>
              </a:rPr>
              <a:t>PIM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36896-BBDF-4F9E-BBEE-B13619D5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647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66B"/>
                </a:solidFill>
              </a:defRPr>
            </a:pPr>
            <a:r>
              <a:rPr sz="1650" b="0">
                <a:solidFill>
                  <a:srgbClr val="53666B"/>
                </a:solidFill>
              </a:rPr>
              <a:t>Functional local prototype</a:t>
            </a:r>
          </a:p>
          <a:p xmlns:a="http://schemas.openxmlformats.org/drawingml/2006/main">
            <a:pPr>
              <a:defRPr sz="1650" b="0">
                <a:solidFill>
                  <a:srgbClr val="53666B"/>
                </a:solidFill>
              </a:defRPr>
            </a:pPr>
            <a:r>
              <a:rPr sz="1650" b="0">
                <a:solidFill>
                  <a:srgbClr val="53666B"/>
                </a:solidFill>
              </a:rPr>
              <a:t>Evidence-first review before export</a:t>
            </a:r>
          </a:p>
          <a:p xmlns:a="http://schemas.openxmlformats.org/drawingml/2006/main">
            <a:pPr>
              <a:defRPr sz="1650" b="0">
                <a:solidFill>
                  <a:srgbClr val="53666B"/>
                </a:solidFill>
              </a:defRPr>
            </a:pPr>
            <a:r>
              <a:rPr sz="1650" b="0">
                <a:solidFill>
                  <a:srgbClr val="53666B"/>
                </a:solidFill>
              </a:rPr>
              <a:t>Synthetic demo; no real-world accuracy claim</a:t>
            </a:r>
          </a:p>
        </p:txBody>
      </p:sp>
    </p:spTree>
    <p:extLst>
      <p:ext uri="{BB962C8B-B14F-4D97-AF65-F5344CB8AC3E}">
        <p14:creationId xmlns:p14="http://schemas.microsoft.com/office/powerpoint/2010/main" val="1121874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2026-08-19T21:16:12.5360000Z</dcterms:created>
  <dcterms:modified xsi:type="dcterms:W3CDTF">2026-08-19T21:16:12.5360000Z</dcterms:modified>
</coreProperties>
</file>